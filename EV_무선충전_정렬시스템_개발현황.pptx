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4584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0288D1">
              <a:alpha val="20000"/>
            </a:srgbClr>
          </a:solidFill>
          <a:ln w="12700">
            <a:solidFill>
              <a:srgbClr val="0288D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 smtClean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기술협의체</a:t>
            </a:r>
            <a:r>
              <a:rPr lang="en-US" sz="1300" dirty="0" smtClean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현황 보고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전기차 무선충전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시스템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UWB Trilateration 기반 위치 측위 구현 현황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228600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024128"/>
            <a:ext cx="5029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70432" y="1005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개요 및 구현 범위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E3F2FD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029968"/>
            <a:ext cx="5029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0432" y="2011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하드웨어 구성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3035808"/>
            <a:ext cx="5029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UWB FiRa 세션 관리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E3F2FD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4041648"/>
            <a:ext cx="5029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0432" y="4023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설정 구조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9144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56048" y="1024128"/>
            <a:ext cx="5029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59552" y="10058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다단계 노이즈 필터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E3F2FD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2029968"/>
            <a:ext cx="5029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59552" y="20116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삼변측량 (Trilateration)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56048" y="3035808"/>
            <a:ext cx="5029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59552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결과 및 진단 출력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9319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E3F2FD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56048" y="4041648"/>
            <a:ext cx="502920" cy="50292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59552" y="4023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 및 다음 단계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시스템 개요 및 구현 범위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AEAEA"/>
          </a:solidFill>
          <a:ln w="12700">
            <a:solidFill>
              <a:srgbClr val="BDBDB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5~30 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1371600" cy="18288"/>
          </a:xfrm>
          <a:prstGeom prst="rect">
            <a:avLst/>
          </a:prstGeom>
          <a:solidFill>
            <a:srgbClr val="BDBDBD">
              <a:alpha val="60000"/>
            </a:srgbClr>
          </a:solidFill>
          <a:ln w="12700">
            <a:solidFill>
              <a:srgbClr val="BDBDBD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240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센서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315468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E0E0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154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58568" y="2377440"/>
            <a:ext cx="201168" cy="0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9144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0288D1"/>
          </a:solidFill>
          <a:ln w="25400">
            <a:solidFill>
              <a:srgbClr val="0288D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68880" y="1051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46888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1~5 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2148840"/>
            <a:ext cx="1371600" cy="18288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2240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센서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6888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UWB PDoA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88920" y="315468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315468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1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현재 구현 중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07408" y="2377440"/>
            <a:ext cx="201168" cy="0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9144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AEAEA"/>
          </a:solidFill>
          <a:ln w="12700">
            <a:solidFill>
              <a:srgbClr val="BDBDB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17720" y="1051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1772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Align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1772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148840"/>
            <a:ext cx="1371600" cy="18288"/>
          </a:xfrm>
          <a:prstGeom prst="rect">
            <a:avLst/>
          </a:prstGeom>
          <a:solidFill>
            <a:srgbClr val="BDBDBD">
              <a:alpha val="60000"/>
            </a:srgbClr>
          </a:solidFill>
          <a:ln w="12700">
            <a:solidFill>
              <a:srgbClr val="BDBDBD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2240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센서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1772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92040" y="315468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E0E0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154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56248" y="2377440"/>
            <a:ext cx="201168" cy="0"/>
          </a:xfrm>
          <a:prstGeom prst="line">
            <a:avLst/>
          </a:prstGeom>
          <a:noFill/>
          <a:ln w="25400">
            <a:solidFill>
              <a:srgbClr val="BDBDB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9144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AEAEA"/>
          </a:solidFill>
          <a:ln w="12700">
            <a:solidFill>
              <a:srgbClr val="BDBDB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66560" y="1051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766560" y="14173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66560" y="1783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0.3 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40880" y="2148840"/>
            <a:ext cx="1371600" cy="18288"/>
          </a:xfrm>
          <a:prstGeom prst="rect">
            <a:avLst/>
          </a:prstGeom>
          <a:solidFill>
            <a:srgbClr val="BDBDBD">
              <a:alpha val="60000"/>
            </a:srgbClr>
          </a:solidFill>
          <a:ln w="12700">
            <a:solidFill>
              <a:srgbClr val="BDBDBD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22402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센서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0" y="24688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자기장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040880" y="315468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E0E0E0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0" y="31546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예정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현재 구현 범위: </a:t>
            </a:r>
            <a:r>
              <a:rPr lang="en-US" sz="1100" b="1" dirty="0" smtClean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Approach </a:t>
            </a:r>
            <a:r>
              <a:rPr lang="en-US" sz="1100" b="1" dirty="0" err="1" smtClean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</a:t>
            </a:r>
            <a:r>
              <a:rPr lang="en-US" sz="1100" b="1" dirty="0" smtClean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(UWB </a:t>
            </a: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Trilateration 기반 </a:t>
            </a:r>
            <a:r>
              <a:rPr lang="en-US" sz="1100" b="1" dirty="0" err="1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r>
              <a:rPr lang="en-US" sz="11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 smtClean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측위</a:t>
            </a:r>
            <a:r>
              <a:rPr lang="en-US" sz="1100" b="1" dirty="0" smtClean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하드웨어 구성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25400">
            <a:solidFill>
              <a:srgbClr val="0288D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충전기 측 (Charger)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441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DWM3001CDK  Anchor #1  →  (0, 0, 140)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673352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DWM3001CDK  Anchor #2  →  (100, 0, 140)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020824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3911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DWM3001CDK  Anchor #3  →  (50, 0, 53.4)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0" y="82296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0083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822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차량 측 (Vehicle)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74920" y="1325880"/>
            <a:ext cx="3566160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34416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DWM3001CDK  Tag #1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78892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34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배치 (Top View, cm)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7685" y="329148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365" y="3492656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R1(0,140)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03685" y="3291488"/>
            <a:ext cx="182880" cy="1828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29365" y="349265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R2(100,140)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965960" y="4169664"/>
            <a:ext cx="182880" cy="18288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1640" y="40050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R3(50,53)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09125" y="3382928"/>
            <a:ext cx="228600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909125" y="3382928"/>
            <a:ext cx="114300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3195125" y="3382928"/>
            <a:ext cx="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663440" y="2788920"/>
            <a:ext cx="41148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834640"/>
            <a:ext cx="38404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DW3110 칩 + nRF52833 (BLE 내장)
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TWR 거리 측정 지원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BLE Discovery 겸용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단일 안테나 구조 (PDoA 불가)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UWB FiRa 세션 관리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3931920" cy="411480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Initiator (Controller)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생성 및 파라미터 설정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282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Controlee 등록 관리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305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시작/종료 제어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32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 저장 (fira_save_params)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83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822960"/>
            <a:ext cx="3931920" cy="411480"/>
          </a:xfrm>
          <a:prstGeom prst="roundRect">
            <a:avLst>
              <a:gd name="adj" fmla="val 22222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(Controlee)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325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Initiator 명령 수신 대기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7282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측정 응답 (TWR)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1305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상태 알림 전송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5328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#1, #2, #3 각각 동작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생명주기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611880"/>
            <a:ext cx="882114" cy="502920"/>
          </a:xfrm>
          <a:prstGeom prst="roundRect">
            <a:avLst>
              <a:gd name="adj" fmla="val 18182"/>
            </a:avLst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11880"/>
            <a:ext cx="8821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62174" y="3854194"/>
            <a:ext cx="354421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49672" y="3607306"/>
            <a:ext cx="882114" cy="502920"/>
          </a:xfrm>
          <a:prstGeom prst="roundRect">
            <a:avLst>
              <a:gd name="adj" fmla="val 1818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49672" y="3607306"/>
            <a:ext cx="88211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82357" y="3854194"/>
            <a:ext cx="354421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64489" y="3593594"/>
            <a:ext cx="872724" cy="502920"/>
          </a:xfrm>
          <a:prstGeom prst="roundRect">
            <a:avLst>
              <a:gd name="adj" fmla="val 18182"/>
            </a:avLst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4489" y="3593594"/>
            <a:ext cx="8727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940969" y="3840479"/>
            <a:ext cx="354421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25591" y="3593594"/>
            <a:ext cx="872724" cy="502920"/>
          </a:xfrm>
          <a:prstGeom prst="roundRect">
            <a:avLst>
              <a:gd name="adj" fmla="val 18182"/>
            </a:avLst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20316" y="3593594"/>
            <a:ext cx="8727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251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세션 상태 변화 시 상세 종료 사유 문자열 출력 (진단 지원)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248446" y="3200399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22766" y="327425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 저장/불러오기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22766" y="364001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fira_save_params 명령으로 현재 파라미터를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비휘발성 메모리에 저장 → 재부팅 후 자동 복원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환경에서 재설정 없이 즉시 측정 시작 가능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파라미터 설정 구조 (CLI 기반)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2011680"/>
              </a:tblGrid>
              <a:tr h="447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파라미터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예시값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채널 (Channel)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UWB 주파수 채널 번호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ch=5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PRF 모드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펄스 반복 주파수 (BPRF/HPRF)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prf=BPRF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SFD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Frame Delimiter 식별자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sfd=2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TWR 방식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SS-TWR / DS-TWR 선택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twr=DS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세션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FiRa 세션 식별 번호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sid=1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슬롯 시간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측정 슬롯 지속 시간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slot=2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Preamble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동기화용 프리앰블 코드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pre=9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Controlee 주소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Responder UWB 주소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addr=0x0001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모든 파라미터는 CLI 문자열 파싱으로 런타임 설정 가능 — 재컴파일 없이 유연한 운영 환경 전환 지원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다단계 노이즈 필터 (V1~V7)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097280" cy="1828800"/>
          </a:xfrm>
          <a:prstGeom prst="roundRect">
            <a:avLst>
              <a:gd name="adj" fmla="val 8333"/>
            </a:avLst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755648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이상값 제거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(Outlier Rejection)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08760" y="1280160"/>
            <a:ext cx="1097280" cy="1828800"/>
          </a:xfrm>
          <a:prstGeom prst="roundRect">
            <a:avLst>
              <a:gd name="adj" fmla="val 8333"/>
            </a:avLst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08760" y="1371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755648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(지수이동평균)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0" y="1280160"/>
            <a:ext cx="1097280" cy="1828800"/>
          </a:xfrm>
          <a:prstGeom prst="roundRect">
            <a:avLst>
              <a:gd name="adj" fmla="val 8333"/>
            </a:avLst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1371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1755648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이상값 제거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77640" y="1280160"/>
            <a:ext cx="1097280" cy="1828800"/>
          </a:xfrm>
          <a:prstGeom prst="roundRect">
            <a:avLst>
              <a:gd name="adj" fmla="val 8333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77640" y="1371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77640" y="1755648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중앙값 필터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(Median)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12080" y="1280160"/>
            <a:ext cx="1097280" cy="1828800"/>
          </a:xfrm>
          <a:prstGeom prst="roundRect">
            <a:avLst>
              <a:gd name="adj" fmla="val 8333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1371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0" y="1755648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이상값 제거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중앙값 + EMA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46520" y="1280160"/>
            <a:ext cx="1097280" cy="1828800"/>
          </a:xfrm>
          <a:prstGeom prst="roundRect">
            <a:avLst>
              <a:gd name="adj" fmla="val 8333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13716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46520" y="1755648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칼만 필터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3F2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(Kalman)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80960" y="914400"/>
            <a:ext cx="1097280" cy="2560320"/>
          </a:xfrm>
          <a:prstGeom prst="roundRect">
            <a:avLst>
              <a:gd name="adj" fmla="val 8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52400" dist="508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80960" y="10058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80960" y="1389888"/>
            <a:ext cx="1097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이상값 제거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중앙값(5샘플)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칼만 필터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303580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03580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사용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8595360" cy="1280160"/>
          </a:xfrm>
          <a:prstGeom prst="roundRect">
            <a:avLst>
              <a:gd name="adj" fmla="val 7143"/>
            </a:avLst>
          </a:prstGeom>
          <a:solidFill>
            <a:srgbClr val="E3F2FD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(FILTER_V7_FULL) 처리 파이프라인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041648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4164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원시 거리 입력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38528" y="4389120"/>
            <a:ext cx="16459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21408" y="4041648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21408" y="404164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이상값 제거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(음수/급변값 필터)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02736" y="4389120"/>
            <a:ext cx="16459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85616" y="4041648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85616" y="404164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중앙값 필터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(5샘플 윈도우)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266944" y="4389120"/>
            <a:ext cx="16459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49824" y="4041648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9824" y="404164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칼만 필터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(노이즈 평활화)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931152" y="4389120"/>
            <a:ext cx="164592" cy="0"/>
          </a:xfrm>
          <a:prstGeom prst="line">
            <a:avLst/>
          </a:prstGeom>
          <a:noFill/>
          <a:ln w="25400">
            <a:solidFill>
              <a:srgbClr val="546E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14032" y="4041648"/>
            <a:ext cx="1463040" cy="685800"/>
          </a:xfrm>
          <a:prstGeom prst="roundRect">
            <a:avLst>
              <a:gd name="adj" fmla="val 10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14032" y="4041648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거리 출력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3D 삼변측량 (Trilateration)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연립방정식 기반 풀이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r1² = x² + z² + (y-140)²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r2² = (x-100)² + z² + (y-140)²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8366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r3² = (x-50)² + z² + (y-53.4)²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054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- ② → x 계산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16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- ③ → z 계산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1272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대입  → y(높이) 계산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862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유효 범위 판정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187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X: -50 ~ 150 cm  /  Y: 0 ~ 500 cm 이내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480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31720" y="4480560"/>
            <a:ext cx="1920240" cy="274320"/>
          </a:xfrm>
          <a:prstGeom prst="roundRect">
            <a:avLst>
              <a:gd name="adj" fmla="val 26667"/>
            </a:avLst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172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OUT_OF_RANGE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822960"/>
            <a:ext cx="40233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추적 및 경보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1298448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31673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연속 오류 조건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131673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거리값이 음수(-) 반환 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92040" y="1865376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188366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추적 변수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188366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error_count 증가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432304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45059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경보 기준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245059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ERROR_LIMIT = 3 초과 시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999232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E3F2FD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01752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경보 출력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01752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경보 메시지 출력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5661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ECEFF1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58444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측위 중단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35844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Anchor 측위 제외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측정 결과 및 진단 출력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3931920" cy="365760"/>
          </a:xfrm>
          <a:prstGeom prst="roundRect">
            <a:avLst>
              <a:gd name="adj" fmla="val 25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측정값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원시 거리 (Raw Distance, cm)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적용 거리 (Filtered Distance, cm)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15798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Responder 개별 출력 (R1, R2, R3)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00838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3931920" cy="365760"/>
          </a:xfrm>
          <a:prstGeom prst="roundRect">
            <a:avLst>
              <a:gd name="adj" fmla="val 25000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각도 / 신호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2801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AoA 방위각 (Azimuth, °)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71907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714119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RSSI (수신 신호 강도, dBm)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0288D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3931920" cy="365760"/>
          </a:xfrm>
          <a:prstGeom prst="roundRect">
            <a:avLst>
              <a:gd name="adj" fmla="val 25000"/>
            </a:avLst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클럭 / 동기화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38328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(클럭 오프셋, ppm)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82219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TDoA 진단 출력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26110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PDoA </a:t>
            </a:r>
            <a:r>
              <a:rPr lang="en-US" sz="1100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</a:t>
            </a: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sz="1100" dirty="0" smtClean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altLang="ko-KR" sz="1100" dirty="0" smtClean="0"/>
              <a:t>QM33120WDK1</a:t>
            </a:r>
            <a:r>
              <a:rPr lang="ko-KR" altLang="en-US" sz="1100" dirty="0" err="1" smtClean="0"/>
              <a:t>교체시</a:t>
            </a:r>
            <a:r>
              <a:rPr lang="ko-KR" altLang="en-US" sz="1100" dirty="0" smtClean="0"/>
              <a:t> 활용</a:t>
            </a:r>
            <a:r>
              <a:rPr lang="en-US" sz="1100" dirty="0" smtClean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25400">
            <a:solidFill>
              <a:srgbClr val="546E7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26080"/>
            <a:ext cx="3931920" cy="365760"/>
          </a:xfrm>
          <a:prstGeom prst="roundRect">
            <a:avLst>
              <a:gd name="adj" fmla="val 25000"/>
            </a:avLst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926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/ 프레임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338328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TX/RX 성공 여부 (프레임 상태)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82219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상태 알림 (INIT/ACTIVE/IDLE/DEINIT)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261104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종료 사유 상세 문자열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모든 출력은 CLI 터미널 실시간 모니터링으로 확인 가능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현재 한계 및 다음 단계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8E1"/>
          </a:solidFill>
          <a:ln w="25400">
            <a:solidFill>
              <a:srgbClr val="FF6F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3931920" cy="411480"/>
          </a:xfrm>
          <a:prstGeom prst="roundRect">
            <a:avLst>
              <a:gd name="adj" fmla="val 22222"/>
            </a:avLst>
          </a:prstGeom>
          <a:solidFill>
            <a:srgbClr val="FF6F00"/>
          </a:solidFill>
          <a:ln w="12700">
            <a:solidFill>
              <a:srgbClr val="FF6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현재 한계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344168"/>
            <a:ext cx="3657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DWM3001CDK는 단일 안테나 구조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PDoA 방위각 직접 측정 불가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002536"/>
            <a:ext cx="3657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029968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방위각은 Trilateration 좌표 계산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 atan2로 간접 추정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660904"/>
            <a:ext cx="3657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88336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헤딩은 차량 이동 시에만 벡터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차이로 추정 가능 (정지 시 불확실)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319272"/>
            <a:ext cx="3657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46704"/>
            <a:ext cx="3474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J2954 ±100mm 기준 달성을 위해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PDoA 전용 칩 필요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8229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822960"/>
            <a:ext cx="3931920" cy="411480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다음 단계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83480" y="1344168"/>
            <a:ext cx="3657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01768" y="1362456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1768" y="1362456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23560" y="1371600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Qorvo QM33120WDK1 구매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(PDoA Anchor, 200~300만원)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83480" y="2002536"/>
            <a:ext cx="3657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01768" y="2020824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2020824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23560" y="2029968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전방 카메라 + ArUco 마커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검출 프로토타입 개발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2660904"/>
            <a:ext cx="3657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01768" y="2679192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2679192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23560" y="2688336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PDoA + 2-Tag 헤딩 측정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및 정확도 평가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3319272"/>
            <a:ext cx="36576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01768" y="3337560"/>
            <a:ext cx="566928" cy="256032"/>
          </a:xfrm>
          <a:prstGeom prst="roundRect">
            <a:avLst>
              <a:gd name="adj" fmla="val 21429"/>
            </a:avLst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01768" y="3337560"/>
            <a:ext cx="5669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23560" y="3346704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EKF 기반 UWB-Vision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융합 알고리즘 설계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160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협의 필요 사항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4507992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PDoA Anchor 예산 확보   ② 차량 측 Tag 부착 위치 확정   ③ GA 측 ArUco 마커 적용 가능 여부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현황 핵심 성과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UWB FiRa 세션 관리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10512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Initiator/Responder 역할 분리, 전체 생명주기 구현 완료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67712"/>
            <a:ext cx="804672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13432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313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 다단계 노이즈 필터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615184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이상값 제거 → 중앙값(5샘플) → 칼만 필터 파이프라인 구축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804672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18104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97280" y="311810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삼변측량 구현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419856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3개 기반 연립방정식 풀이로 x, y, z 좌표 추출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877056"/>
            <a:ext cx="8046720" cy="685800"/>
          </a:xfrm>
          <a:prstGeom prst="roundRect">
            <a:avLst>
              <a:gd name="adj" fmla="val 1333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22776"/>
            <a:ext cx="411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97280" y="39227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진단 출력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224528"/>
            <a:ext cx="7223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거리/AoA/RSSI/CFO/세션상태 통합 모니터링 지원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2560320" cy="274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75488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Hanyang Polytechnic Univ.  |  EV WPT Alignment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12700">
          <a:solidFill>
            <a:srgbClr val="00838F"/>
          </a:solidFill>
          <a:prstDash val="solid"/>
        </a:ln>
      </a:spPr>
      <a:bodyPr/>
      <a:lstStyle/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886</Words>
  <Application>Microsoft Office PowerPoint</Application>
  <PresentationFormat>화면 슬라이드 쇼(16:9)</PresentationFormat>
  <Paragraphs>238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무선충전 정렬 시스템 개발 현황</dc:title>
  <dc:subject>PptxGenJS Presentation</dc:subject>
  <dc:creator>PptxGenJS</dc:creator>
  <cp:lastModifiedBy>PC_pc</cp:lastModifiedBy>
  <cp:revision>5</cp:revision>
  <dcterms:created xsi:type="dcterms:W3CDTF">2026-06-11T03:55:09Z</dcterms:created>
  <dcterms:modified xsi:type="dcterms:W3CDTF">2026-06-11T05:26:30Z</dcterms:modified>
</cp:coreProperties>
</file>